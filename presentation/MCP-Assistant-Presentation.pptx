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5EA8A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936950" y="798612"/>
            <a:ext cx="1269950" cy="1269950"/>
          </a:xfrm>
          <a:prstGeom prst="roundRect">
            <a:avLst>
              <a:gd name="adj" fmla="val 72003"/>
            </a:avLst>
          </a:prstGeom>
          <a:solidFill>
            <a:srgbClr val="5EA8A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035772" y="1152525"/>
            <a:ext cx="1093753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502448" y="2373362"/>
            <a:ext cx="4138955" cy="676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200"/>
              </a:spcAft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Assistant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2610835" y="3202037"/>
            <a:ext cx="392233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Productivity Server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96466" y="3871764"/>
            <a:ext cx="755106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700"/>
              </a:spcBef>
              <a:spcAft>
                <a:spcPts val="1700"/>
              </a:spcAft>
              <a:buNone/>
            </a:pPr>
            <a:r>
              <a:rPr lang="en-US" sz="1700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19+ AI-Callable Tools  |  Multi-Model Chat  |  Per-User Isolation  |  React Frontend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07950" y="4565749"/>
            <a:ext cx="16592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dirty="0">
                <a:solidFill>
                  <a:srgbClr val="484F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Hackathon Project 2026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131570" y="4565749"/>
            <a:ext cx="255456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dirty="0">
                <a:solidFill>
                  <a:srgbClr val="484F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with FastMCP + Python + React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5EA8A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304800"/>
            <a:ext cx="829066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MCP Assistant?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7950" y="822275"/>
            <a:ext cx="762000" cy="38100"/>
          </a:xfrm>
          <a:prstGeom prst="rect">
            <a:avLst/>
          </a:prstGeom>
          <a:solidFill>
            <a:srgbClr val="5EA8A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07950" y="1190476"/>
            <a:ext cx="3911650" cy="74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spcBef>
                <a:spcPts val="1400"/>
              </a:spcBef>
              <a:spcAft>
                <a:spcPts val="1400"/>
              </a:spcAft>
              <a:buNone/>
            </a:pPr>
            <a:r>
              <a:rPr lang="en-US" sz="14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personal productivity platform that exposes 19 AI-callable tools through the Model Context Protocol (MCP).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7950" y="2115145"/>
            <a:ext cx="3911650" cy="12449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spcBef>
                <a:spcPts val="1400"/>
              </a:spcBef>
              <a:spcAft>
                <a:spcPts val="1400"/>
              </a:spcAft>
              <a:buNone/>
            </a:pPr>
            <a:r>
              <a:rPr lang="en-US" sz="14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interact via a React chat interface backed by OpenRouter for multi-model LLM support. The assistant can check weather, manage notes and tasks, track time, set reminders, read news, and manage calendar events.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7950" y="3537793"/>
            <a:ext cx="3911650" cy="74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spcBef>
                <a:spcPts val="1400"/>
              </a:spcBef>
              <a:spcAft>
                <a:spcPts val="1400"/>
              </a:spcAft>
              <a:buNone/>
            </a:pPr>
            <a:r>
              <a:rPr lang="en-US" sz="14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access paths: a local MCP server for IDE clients, and a multi-user Chat API for the web frontend.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24400" y="1012775"/>
            <a:ext cx="3911650" cy="942826"/>
          </a:xfrm>
          <a:prstGeom prst="roundRect">
            <a:avLst>
              <a:gd name="adj" fmla="val 10776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724400" y="1017538"/>
            <a:ext cx="3911650" cy="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31287" y="1012775"/>
            <a:ext cx="0" cy="942826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24400" y="1950839"/>
            <a:ext cx="3911650" cy="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43450" y="1012775"/>
            <a:ext cx="0" cy="942826"/>
          </a:xfrm>
          <a:prstGeom prst="line">
            <a:avLst/>
          </a:prstGeom>
          <a:noFill/>
          <a:ln w="38100">
            <a:solidFill>
              <a:srgbClr val="5EA8A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65650" y="1149251"/>
            <a:ext cx="3526878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 (port 8000)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965650" y="1419076"/>
            <a:ext cx="345772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Single-user, local IDE clients like Claude Desktop or Cursor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24400" y="2108002"/>
            <a:ext cx="3911650" cy="942826"/>
          </a:xfrm>
          <a:prstGeom prst="roundRect">
            <a:avLst>
              <a:gd name="adj" fmla="val 10776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4724400" y="2112764"/>
            <a:ext cx="3911650" cy="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631287" y="2108002"/>
            <a:ext cx="0" cy="942826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24400" y="3046065"/>
            <a:ext cx="3911650" cy="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43450" y="2108002"/>
            <a:ext cx="0" cy="942826"/>
          </a:xfrm>
          <a:prstGeom prst="line">
            <a:avLst/>
          </a:prstGeom>
          <a:noFill/>
          <a:ln w="38100">
            <a:solidFill>
              <a:srgbClr val="5EA8A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65650" y="2244477"/>
            <a:ext cx="3526878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API (port 8001)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965650" y="2514302"/>
            <a:ext cx="345772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Multi-user, per-user data isolation, React frontend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724400" y="3203228"/>
            <a:ext cx="3911650" cy="942826"/>
          </a:xfrm>
          <a:prstGeom prst="roundRect">
            <a:avLst>
              <a:gd name="adj" fmla="val 10776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4724400" y="3207990"/>
            <a:ext cx="3911650" cy="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31287" y="3203228"/>
            <a:ext cx="0" cy="942826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24400" y="4141291"/>
            <a:ext cx="3911650" cy="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743450" y="3203228"/>
            <a:ext cx="0" cy="942826"/>
          </a:xfrm>
          <a:prstGeom prst="line">
            <a:avLst/>
          </a:prstGeom>
          <a:noFill/>
          <a:ln w="38100">
            <a:solidFill>
              <a:srgbClr val="5EA8A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65650" y="3339703"/>
            <a:ext cx="3526878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Frontend (port 3000)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965650" y="3609529"/>
            <a:ext cx="345772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 chat UI with model switching and tools panel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572351" y="4743450"/>
            <a:ext cx="649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dirty="0">
                <a:solidFill>
                  <a:srgbClr val="484F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5EA8A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28600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19+ AI-Callable Tools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7950" y="676275"/>
            <a:ext cx="762000" cy="38100"/>
          </a:xfrm>
          <a:prstGeom prst="rect">
            <a:avLst/>
          </a:prstGeom>
          <a:solidFill>
            <a:srgbClr val="5EA8A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815876"/>
            <a:ext cx="2177951" cy="1250454"/>
          </a:xfrm>
          <a:prstGeom prst="roundRect">
            <a:avLst>
              <a:gd name="adj" fmla="val 6094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3675" y="926902"/>
            <a:ext cx="1943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3675" y="1107877"/>
            <a:ext cx="1943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get_weather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3675" y="1250752"/>
            <a:ext cx="1943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weather by city or coords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93675" y="1390352"/>
            <a:ext cx="1943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get_forecast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3675" y="1533227"/>
            <a:ext cx="1943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Multi-day forecast (1-5 days)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93675" y="1672828"/>
            <a:ext cx="1943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convert_temperature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93675" y="1815703"/>
            <a:ext cx="1943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Celsius / Fahrenheit conversion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711351" y="815876"/>
            <a:ext cx="2177951" cy="1250454"/>
          </a:xfrm>
          <a:prstGeom prst="roundRect">
            <a:avLst>
              <a:gd name="adj" fmla="val 6094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847826" y="926902"/>
            <a:ext cx="1943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847826" y="1107877"/>
            <a:ext cx="1943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get_world_time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847826" y="1250752"/>
            <a:ext cx="1943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time in any timezone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847826" y="1390352"/>
            <a:ext cx="1943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convert_timezone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847826" y="1533227"/>
            <a:ext cx="1943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 between timezones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965502" y="815876"/>
            <a:ext cx="2177951" cy="1250454"/>
          </a:xfrm>
          <a:prstGeom prst="roundRect">
            <a:avLst>
              <a:gd name="adj" fmla="val 6094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101977" y="926902"/>
            <a:ext cx="1943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101977" y="1107877"/>
            <a:ext cx="1943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create_note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101977" y="1250752"/>
            <a:ext cx="1943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persistent notes (SQLite)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101977" y="1390352"/>
            <a:ext cx="1943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search_notes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101977" y="1533227"/>
            <a:ext cx="1943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Full-text search across notes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57200" y="2142530"/>
            <a:ext cx="2177951" cy="1532930"/>
          </a:xfrm>
          <a:prstGeom prst="roundRect">
            <a:avLst>
              <a:gd name="adj" fmla="val 4971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93675" y="2253555"/>
            <a:ext cx="1943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93675" y="2434530"/>
            <a:ext cx="1943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create_task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93675" y="2577405"/>
            <a:ext cx="1943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with priority and due date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93675" y="2717006"/>
            <a:ext cx="1943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list_tasks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3675" y="2859881"/>
            <a:ext cx="1943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by status and priority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711351" y="2142530"/>
            <a:ext cx="2177951" cy="1532930"/>
          </a:xfrm>
          <a:prstGeom prst="roundRect">
            <a:avLst>
              <a:gd name="adj" fmla="val 4971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2847826" y="2253555"/>
            <a:ext cx="1943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PRODUCTIVITY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847826" y="2434530"/>
            <a:ext cx="1943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track_time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847826" y="2577405"/>
            <a:ext cx="1943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Start/stop project time tracking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2847826" y="2717006"/>
            <a:ext cx="1943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get_time_summary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847826" y="2859881"/>
            <a:ext cx="1943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Daily/weekly time reports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2847826" y="2999482"/>
            <a:ext cx="1943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set_reminder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847826" y="3142357"/>
            <a:ext cx="1943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 time-based alerts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2847826" y="3281958"/>
            <a:ext cx="1943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list_reminders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847826" y="3424833"/>
            <a:ext cx="1943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active reminders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965502" y="2142530"/>
            <a:ext cx="2177951" cy="1532930"/>
          </a:xfrm>
          <a:prstGeom prst="roundRect">
            <a:avLst>
              <a:gd name="adj" fmla="val 4971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5101977" y="2253555"/>
            <a:ext cx="1943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INFORMATION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101977" y="2434530"/>
            <a:ext cx="1943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get_news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101977" y="2577405"/>
            <a:ext cx="1943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Latest headlines by topic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457200" y="3751659"/>
            <a:ext cx="2177951" cy="967978"/>
          </a:xfrm>
          <a:prstGeom prst="roundRect">
            <a:avLst>
              <a:gd name="adj" fmla="val 7872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593675" y="3862685"/>
            <a:ext cx="1943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ASSISTANT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93675" y="4043660"/>
            <a:ext cx="1943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summarize_day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93675" y="4186535"/>
            <a:ext cx="1943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daily briefing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593675" y="4326136"/>
            <a:ext cx="1943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plan_meeting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93675" y="4469011"/>
            <a:ext cx="1943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slots across timezones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8572351" y="4743450"/>
            <a:ext cx="649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dirty="0">
                <a:solidFill>
                  <a:srgbClr val="484F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5EA8A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53901"/>
            <a:ext cx="829066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7950" y="720626"/>
            <a:ext cx="762000" cy="38100"/>
          </a:xfrm>
          <a:prstGeom prst="rect">
            <a:avLst/>
          </a:prstGeom>
          <a:solidFill>
            <a:srgbClr val="5EA8A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07950" y="885676"/>
            <a:ext cx="3975199" cy="784027"/>
          </a:xfrm>
          <a:prstGeom prst="roundRect">
            <a:avLst>
              <a:gd name="adj" fmla="val 12959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507950" y="890439"/>
            <a:ext cx="3975199" cy="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478387" y="885676"/>
            <a:ext cx="0" cy="784027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7950" y="1664940"/>
            <a:ext cx="3975199" cy="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27000" y="885676"/>
            <a:ext cx="0" cy="784027"/>
          </a:xfrm>
          <a:prstGeom prst="line">
            <a:avLst/>
          </a:prstGeom>
          <a:noFill/>
          <a:ln w="38100">
            <a:solidFill>
              <a:srgbClr val="5EA8A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23751" y="1022152"/>
            <a:ext cx="364361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Frontend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23751" y="1247477"/>
            <a:ext cx="36436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 3000 | Vite + React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23751" y="1390352"/>
            <a:ext cx="36436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UI, model selector, tools panel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444651" y="1974354"/>
            <a:ext cx="10368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-US" sz="1600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950" y="2517130"/>
            <a:ext cx="3975199" cy="784027"/>
          </a:xfrm>
          <a:prstGeom prst="roundRect">
            <a:avLst>
              <a:gd name="adj" fmla="val 12959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07950" y="2521893"/>
            <a:ext cx="3975199" cy="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78387" y="2517130"/>
            <a:ext cx="0" cy="784027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7950" y="3296394"/>
            <a:ext cx="3975199" cy="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7000" y="2517130"/>
            <a:ext cx="0" cy="784027"/>
          </a:xfrm>
          <a:prstGeom prst="line">
            <a:avLst/>
          </a:prstGeom>
          <a:noFill/>
          <a:ln w="38100">
            <a:solidFill>
              <a:srgbClr val="E3B34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3751" y="2653605"/>
            <a:ext cx="364361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API (Starlette)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23751" y="2878931"/>
            <a:ext cx="36436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 8001 | Multi-user auth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23751" y="3021806"/>
            <a:ext cx="36436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OpenRouter LLM | Per-user DB isolation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444651" y="3605808"/>
            <a:ext cx="10368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-US" sz="1600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07950" y="4148584"/>
            <a:ext cx="3975199" cy="784027"/>
          </a:xfrm>
          <a:prstGeom prst="roundRect">
            <a:avLst>
              <a:gd name="adj" fmla="val 12959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507950" y="4153346"/>
            <a:ext cx="3975199" cy="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78387" y="4148584"/>
            <a:ext cx="0" cy="784027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50" y="4927848"/>
            <a:ext cx="3975199" cy="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7000" y="4148584"/>
            <a:ext cx="0" cy="784027"/>
          </a:xfrm>
          <a:prstGeom prst="line">
            <a:avLst/>
          </a:prstGeom>
          <a:noFill/>
          <a:ln w="38100">
            <a:solidFill>
              <a:srgbClr val="A371F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3751" y="4285059"/>
            <a:ext cx="364361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 (FastMCP)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23751" y="4510385"/>
            <a:ext cx="36436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 8000 | Streamable HTTP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23751" y="4653260"/>
            <a:ext cx="36436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auto-discovered tools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660850" y="885676"/>
            <a:ext cx="3975199" cy="784027"/>
          </a:xfrm>
          <a:prstGeom prst="roundRect">
            <a:avLst>
              <a:gd name="adj" fmla="val 12959"/>
            </a:avLst>
          </a:prstGeom>
          <a:solidFill>
            <a:srgbClr val="1A2233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4848076" y="1022152"/>
            <a:ext cx="367276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Auto-Discovery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48076" y="1247477"/>
            <a:ext cx="367276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@mcp.tool() decorator + pkgutil import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48076" y="1390352"/>
            <a:ext cx="367276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a file = tool is live. No registration.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660850" y="1745903"/>
            <a:ext cx="3975199" cy="784027"/>
          </a:xfrm>
          <a:prstGeom prst="roundRect">
            <a:avLst>
              <a:gd name="adj" fmla="val 12959"/>
            </a:avLst>
          </a:prstGeom>
          <a:solidFill>
            <a:srgbClr val="1A2233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848076" y="1882378"/>
            <a:ext cx="367276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Tenancy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848076" y="2107704"/>
            <a:ext cx="367276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path: global shared DB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848076" y="2250579"/>
            <a:ext cx="367276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API path: data/user_id/ isolation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60850" y="2606129"/>
            <a:ext cx="3975199" cy="784027"/>
          </a:xfrm>
          <a:prstGeom prst="roundRect">
            <a:avLst>
              <a:gd name="adj" fmla="val 12959"/>
            </a:avLst>
          </a:prstGeom>
          <a:solidFill>
            <a:srgbClr val="1A2233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4848076" y="2742605"/>
            <a:ext cx="367276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Integration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848076" y="2967930"/>
            <a:ext cx="367276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OpenRouter multi-model switching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848076" y="3110805"/>
            <a:ext cx="367276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Claude, GPT-4o, Gemini, Llama, DeepSeek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660850" y="3466356"/>
            <a:ext cx="3975199" cy="784027"/>
          </a:xfrm>
          <a:prstGeom prst="roundRect">
            <a:avLst>
              <a:gd name="adj" fmla="val 12959"/>
            </a:avLst>
          </a:prstGeom>
          <a:solidFill>
            <a:srgbClr val="1A2233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4848076" y="3602831"/>
            <a:ext cx="367276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4848076" y="3828157"/>
            <a:ext cx="367276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aiosqlite per domain (notes, tasks, etc.)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4848076" y="3971032"/>
            <a:ext cx="367276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Pydantic-Settings for config (.env)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572351" y="4743450"/>
            <a:ext cx="649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dirty="0">
                <a:solidFill>
                  <a:srgbClr val="484F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5EA8A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304800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UI: Login &amp; Welcome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7950" y="765125"/>
            <a:ext cx="762000" cy="38100"/>
          </a:xfrm>
          <a:prstGeom prst="rect">
            <a:avLst/>
          </a:prstGeom>
          <a:solidFill>
            <a:srgbClr val="5EA8A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07950" y="955625"/>
            <a:ext cx="4896743" cy="4187875"/>
          </a:xfrm>
          <a:prstGeom prst="roundRect">
            <a:avLst>
              <a:gd name="adj" fmla="val 2426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" name="Image 0" descr="/home/user/Work/cproai/hackathon/mcp-server/presentation/screenshots/02-welc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7475" y="965150"/>
            <a:ext cx="4877693" cy="41688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709493" y="955625"/>
            <a:ext cx="298508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Login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709493" y="1269950"/>
            <a:ext cx="2926556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Name-based auth with per-user data isolation. API key generated on first login.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709493" y="2115294"/>
            <a:ext cx="298508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Welcome Screen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709493" y="2429619"/>
            <a:ext cx="2926556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greeting with 6 template prompts covering weather, notes, tasks, time tracking, and reminders.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709493" y="3274963"/>
            <a:ext cx="298508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Actions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5709493" y="3589288"/>
            <a:ext cx="2926556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One-click suggestion chips let users instantly try common workflows without typing.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709493" y="4434632"/>
            <a:ext cx="1510605" cy="253901"/>
          </a:xfrm>
          <a:prstGeom prst="roundRect">
            <a:avLst>
              <a:gd name="adj" fmla="val 60023"/>
            </a:avLst>
          </a:prstGeom>
          <a:solidFill>
            <a:srgbClr val="5EA8A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5836444" y="4485382"/>
            <a:ext cx="12818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Dark / Light Theme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572351" y="4743450"/>
            <a:ext cx="649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dirty="0">
                <a:solidFill>
                  <a:srgbClr val="484F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5EA8A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304800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UI: Chat &amp; Tool Calls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7950" y="765125"/>
            <a:ext cx="762000" cy="38100"/>
          </a:xfrm>
          <a:prstGeom prst="rect">
            <a:avLst/>
          </a:prstGeom>
          <a:solidFill>
            <a:srgbClr val="5EA8A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07950" y="955625"/>
            <a:ext cx="3962400" cy="4187875"/>
          </a:xfrm>
          <a:prstGeom prst="roundRect">
            <a:avLst>
              <a:gd name="adj" fmla="val 2564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" name="Image 0" descr="/home/user/Work/cproai/hackathon/mcp-server/presentation/screenshots/07-task-cre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7475" y="965150"/>
            <a:ext cx="3943350" cy="260538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17475" y="3570536"/>
            <a:ext cx="3943350" cy="917377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5"/>
          <p:cNvSpPr/>
          <p:nvPr/>
        </p:nvSpPr>
        <p:spPr>
          <a:xfrm>
            <a:off x="517475" y="3575298"/>
            <a:ext cx="3943350" cy="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69875" y="3681561"/>
            <a:ext cx="371132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Multi-Turn Chat with Tool Execution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69875" y="3929211"/>
            <a:ext cx="36385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 query via get_weather, then task creation via create_task — both with tool call badges and formatted responses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673501" y="955625"/>
            <a:ext cx="3962549" cy="4187875"/>
          </a:xfrm>
          <a:prstGeom prst="roundRect">
            <a:avLst>
              <a:gd name="adj" fmla="val 2564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2" name="Image 1" descr="/home/user/Work/cproai/hackathon/mcp-server/presentation/screenshots/04-tools-pan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3026" y="965150"/>
            <a:ext cx="3943499" cy="260538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83026" y="3570536"/>
            <a:ext cx="3943499" cy="764977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0"/>
          <p:cNvSpPr/>
          <p:nvPr/>
        </p:nvSpPr>
        <p:spPr>
          <a:xfrm>
            <a:off x="4683026" y="3575298"/>
            <a:ext cx="3943499" cy="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835426" y="3681561"/>
            <a:ext cx="371147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Connected Tools Panel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4835426" y="3929211"/>
            <a:ext cx="363869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tools organized by category (Weather, Time, Notes, Tasks, Productivity) with descriptions and icons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8572351" y="4743450"/>
            <a:ext cx="649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dirty="0">
                <a:solidFill>
                  <a:srgbClr val="484F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5EA8A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28600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7950" y="676275"/>
            <a:ext cx="762000" cy="38100"/>
          </a:xfrm>
          <a:prstGeom prst="rect">
            <a:avLst/>
          </a:prstGeom>
          <a:solidFill>
            <a:srgbClr val="5EA8A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07950" y="815876"/>
            <a:ext cx="1936700" cy="761702"/>
          </a:xfrm>
          <a:prstGeom prst="roundRect">
            <a:avLst>
              <a:gd name="adj" fmla="val 13339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01830" y="926902"/>
            <a:ext cx="174894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19+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01830" y="1323677"/>
            <a:ext cx="17489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Tools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571601" y="815876"/>
            <a:ext cx="1936849" cy="761702"/>
          </a:xfrm>
          <a:prstGeom prst="roundRect">
            <a:avLst>
              <a:gd name="adj" fmla="val 13339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665479" y="926902"/>
            <a:ext cx="1749094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665479" y="1323677"/>
            <a:ext cx="17490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Models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35401" y="815876"/>
            <a:ext cx="1936849" cy="761702"/>
          </a:xfrm>
          <a:prstGeom prst="roundRect">
            <a:avLst>
              <a:gd name="adj" fmla="val 13339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729279" y="926902"/>
            <a:ext cx="1749094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729279" y="1323677"/>
            <a:ext cx="17490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699200" y="815876"/>
            <a:ext cx="1936849" cy="761702"/>
          </a:xfrm>
          <a:prstGeom prst="roundRect">
            <a:avLst>
              <a:gd name="adj" fmla="val 13339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793078" y="926902"/>
            <a:ext cx="1749094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793078" y="1323677"/>
            <a:ext cx="17490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Domains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7950" y="1704529"/>
            <a:ext cx="3987850" cy="1047304"/>
          </a:xfrm>
          <a:prstGeom prst="roundRect">
            <a:avLst>
              <a:gd name="adj" fmla="val 9701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5176" y="1841004"/>
            <a:ext cx="368566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95176" y="2025104"/>
            <a:ext cx="368566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3.12+ / FastMCP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95176" y="2221855"/>
            <a:ext cx="368566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Starlette / Pydantic v2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95176" y="2418606"/>
            <a:ext cx="368566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aiosqlite / httpx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7950" y="2853333"/>
            <a:ext cx="3987850" cy="796677"/>
          </a:xfrm>
          <a:prstGeom prst="roundRect">
            <a:avLst>
              <a:gd name="adj" fmla="val 12753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95176" y="2989808"/>
            <a:ext cx="368566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/ LLM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95176" y="3173909"/>
            <a:ext cx="368566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OpenRouter (multi-model)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95176" y="3370659"/>
            <a:ext cx="368566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Claude, GPT-4o, Gemini, Llama, DeepSeek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648200" y="1704529"/>
            <a:ext cx="3987850" cy="850553"/>
          </a:xfrm>
          <a:prstGeom prst="roundRect">
            <a:avLst>
              <a:gd name="adj" fmla="val 11945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835426" y="1841004"/>
            <a:ext cx="368566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35426" y="2025104"/>
            <a:ext cx="368566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19 + Vite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835426" y="2221855"/>
            <a:ext cx="368566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react-markdown / CSS Variables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648200" y="2656582"/>
            <a:ext cx="3987850" cy="796677"/>
          </a:xfrm>
          <a:prstGeom prst="roundRect">
            <a:avLst>
              <a:gd name="adj" fmla="val 12753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835426" y="2793057"/>
            <a:ext cx="368566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835426" y="2977158"/>
            <a:ext cx="368566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pytest-asyncio / pytest-mock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835426" y="3173909"/>
            <a:ext cx="368566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 tests across all tools, auth + Chat API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648200" y="3554760"/>
            <a:ext cx="3987850" cy="796677"/>
          </a:xfrm>
          <a:prstGeom prst="roundRect">
            <a:avLst>
              <a:gd name="adj" fmla="val 12753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835426" y="3691235"/>
            <a:ext cx="368566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DEVOPS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835426" y="3875336"/>
            <a:ext cx="368566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Compose / uv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835426" y="4072086"/>
            <a:ext cx="368566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Inspector for dev testing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72351" y="4743450"/>
            <a:ext cx="649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dirty="0">
                <a:solidFill>
                  <a:srgbClr val="484F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5EA8A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03150"/>
            <a:ext cx="829066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&amp; OWASP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7950" y="593675"/>
            <a:ext cx="762000" cy="38100"/>
          </a:xfrm>
          <a:prstGeom prst="rect">
            <a:avLst/>
          </a:prstGeom>
          <a:solidFill>
            <a:srgbClr val="5EA8A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733276"/>
            <a:ext cx="411937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IMPLEMENTED PROTECTIONS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923627"/>
            <a:ext cx="4038600" cy="910828"/>
          </a:xfrm>
          <a:prstGeom prst="roundRect">
            <a:avLst>
              <a:gd name="adj" fmla="val 8366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57200" y="928390"/>
            <a:ext cx="4038600" cy="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491038" y="923627"/>
            <a:ext cx="0" cy="910828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829693"/>
            <a:ext cx="4038600" cy="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6250" y="923627"/>
            <a:ext cx="0" cy="910828"/>
          </a:xfrm>
          <a:prstGeom prst="line">
            <a:avLst/>
          </a:prstGeom>
          <a:noFill/>
          <a:ln w="3810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2250" y="1022003"/>
            <a:ext cx="38118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 &amp; Isolation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2250" y="1190179"/>
            <a:ext cx="381181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Per-user SQLite databases (data/{user_id}/)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22250" y="1326654"/>
            <a:ext cx="381181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API keys hashed at rest (SHA-256)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22250" y="1463129"/>
            <a:ext cx="381181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Re-login invalidates old key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22250" y="1599605"/>
            <a:ext cx="381181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Auth required on all endpoints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57200" y="1897856"/>
            <a:ext cx="4038600" cy="910828"/>
          </a:xfrm>
          <a:prstGeom prst="roundRect">
            <a:avLst>
              <a:gd name="adj" fmla="val 8366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457200" y="1902619"/>
            <a:ext cx="4038600" cy="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91038" y="1897856"/>
            <a:ext cx="0" cy="910828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2803922"/>
            <a:ext cx="4038600" cy="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6250" y="1897856"/>
            <a:ext cx="0" cy="910828"/>
          </a:xfrm>
          <a:prstGeom prst="line">
            <a:avLst/>
          </a:prstGeom>
          <a:noFill/>
          <a:ln w="38100">
            <a:solidFill>
              <a:srgbClr val="3FB9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2250" y="1996232"/>
            <a:ext cx="38118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&amp; Query Safety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22250" y="2164407"/>
            <a:ext cx="381181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Parameterized SQL everywhere (A03 Injection)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22250" y="2300883"/>
            <a:ext cx="381181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Pydantic validation + max_length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22250" y="2437358"/>
            <a:ext cx="381181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512KB request size limit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22250" y="2573834"/>
            <a:ext cx="381181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react-markdown sanitizes HTML (XSS)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57200" y="2872085"/>
            <a:ext cx="4038600" cy="910828"/>
          </a:xfrm>
          <a:prstGeom prst="roundRect">
            <a:avLst>
              <a:gd name="adj" fmla="val 8366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457200" y="2876848"/>
            <a:ext cx="4038600" cy="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91038" y="2872085"/>
            <a:ext cx="0" cy="910828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" y="3778151"/>
            <a:ext cx="4038600" cy="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6250" y="2872085"/>
            <a:ext cx="0" cy="910828"/>
          </a:xfrm>
          <a:prstGeom prst="line">
            <a:avLst/>
          </a:prstGeom>
          <a:noFill/>
          <a:ln w="38100">
            <a:solidFill>
              <a:srgbClr val="3FB9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2250" y="2970461"/>
            <a:ext cx="38118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&amp; Config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22250" y="3138636"/>
            <a:ext cx="381181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Localhost-only binding (127.0.0.1)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22250" y="3275112"/>
            <a:ext cx="381181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CORS restricted to localhost:3000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22250" y="3411587"/>
            <a:ext cx="381181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Secrets in .env (gitignored)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22250" y="3548063"/>
            <a:ext cx="381181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SQLite WAL mode + busy timeout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4648200" y="733276"/>
            <a:ext cx="411937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AI-SPECIFIC SAFETY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648200" y="923627"/>
            <a:ext cx="4038600" cy="910828"/>
          </a:xfrm>
          <a:prstGeom prst="roundRect">
            <a:avLst>
              <a:gd name="adj" fmla="val 8366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Shape 36"/>
          <p:cNvSpPr/>
          <p:nvPr/>
        </p:nvSpPr>
        <p:spPr>
          <a:xfrm>
            <a:off x="4648200" y="928390"/>
            <a:ext cx="4038600" cy="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682038" y="923627"/>
            <a:ext cx="0" cy="910828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648200" y="1829693"/>
            <a:ext cx="4038600" cy="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667250" y="923627"/>
            <a:ext cx="0" cy="910828"/>
          </a:xfrm>
          <a:prstGeom prst="line">
            <a:avLst/>
          </a:prstGeom>
          <a:noFill/>
          <a:ln w="38100">
            <a:solidFill>
              <a:srgbClr val="58A6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13250" y="1022003"/>
            <a:ext cx="38118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Tool Guardrails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813250" y="1190179"/>
            <a:ext cx="381181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READ/WRITE tool separation in system prompt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4813250" y="1326654"/>
            <a:ext cx="381181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Side-effect dedup (prevents duplicate writes)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4813250" y="1463129"/>
            <a:ext cx="381181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Tool loop capped at 5 rounds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4813250" y="1599605"/>
            <a:ext cx="381181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ToolAnnotations (readOnly/destructive hints)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648200" y="1923157"/>
            <a:ext cx="411937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TOP 10 COVERAGE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648200" y="2113508"/>
            <a:ext cx="4038600" cy="999679"/>
          </a:xfrm>
          <a:prstGeom prst="roundRect">
            <a:avLst>
              <a:gd name="adj" fmla="val 762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Shape 47"/>
          <p:cNvSpPr/>
          <p:nvPr/>
        </p:nvSpPr>
        <p:spPr>
          <a:xfrm>
            <a:off x="4648200" y="2118271"/>
            <a:ext cx="4038600" cy="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682038" y="2113508"/>
            <a:ext cx="0" cy="999679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648200" y="3108424"/>
            <a:ext cx="4038600" cy="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667250" y="2113508"/>
            <a:ext cx="0" cy="999679"/>
          </a:xfrm>
          <a:prstGeom prst="line">
            <a:avLst/>
          </a:prstGeom>
          <a:noFill/>
          <a:ln w="38100">
            <a:solidFill>
              <a:srgbClr val="E3B34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813250" y="2211884"/>
            <a:ext cx="38118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Assessed &amp; Documented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4813250" y="2380059"/>
            <a:ext cx="381181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A01 Broken Access Control — mitigated (per-user DB)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813250" y="2507010"/>
            <a:ext cx="381181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A02 Crypto Failures — mitigated (hashed keys)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4813250" y="2633960"/>
            <a:ext cx="381181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A03 Injection — mitigated (parameterized SQL)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4813250" y="2760911"/>
            <a:ext cx="381181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A05 Misconfiguration — mitigated (localhost, CORS)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4813250" y="2887861"/>
            <a:ext cx="381181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A07 Auth Failures — known: name-based (demo)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4648200" y="3201888"/>
            <a:ext cx="411937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HARDENING ROADMAP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4648200" y="3392239"/>
            <a:ext cx="4038600" cy="745778"/>
          </a:xfrm>
          <a:prstGeom prst="roundRect">
            <a:avLst>
              <a:gd name="adj" fmla="val 10218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Shape 59"/>
          <p:cNvSpPr/>
          <p:nvPr/>
        </p:nvSpPr>
        <p:spPr>
          <a:xfrm>
            <a:off x="4648200" y="3397002"/>
            <a:ext cx="4038600" cy="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682038" y="3392239"/>
            <a:ext cx="0" cy="745778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648200" y="4133255"/>
            <a:ext cx="4038600" cy="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667250" y="3392239"/>
            <a:ext cx="0" cy="745778"/>
          </a:xfrm>
          <a:prstGeom prst="line">
            <a:avLst/>
          </a:prstGeom>
          <a:noFill/>
          <a:ln w="38100">
            <a:solidFill>
              <a:srgbClr val="E3B341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813250" y="3490615"/>
            <a:ext cx="38118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→ 2 → 3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4813250" y="3658791"/>
            <a:ext cx="381181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limiting → OAuth login → MCP auth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4813250" y="3785741"/>
            <a:ext cx="381181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expiry → Audit logging → TLS/HTTPS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4813250" y="3912691"/>
            <a:ext cx="381181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roadmap in SECURITY.md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8572351" y="4743450"/>
            <a:ext cx="649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dirty="0">
                <a:solidFill>
                  <a:srgbClr val="484F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5EA8A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699946" y="873175"/>
            <a:ext cx="3743959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200"/>
              </a:spcAft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You!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3267391" y="1806625"/>
            <a:ext cx="260921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0"/>
              </a:spcAft>
              <a:buNone/>
            </a:pPr>
            <a:r>
              <a:rPr lang="en-US" sz="24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&amp; Demo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36873" y="2540050"/>
            <a:ext cx="2254151" cy="984200"/>
          </a:xfrm>
          <a:prstGeom prst="roundRect">
            <a:avLst>
              <a:gd name="adj" fmla="val 10323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286708" y="2778175"/>
            <a:ext cx="155448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86708" y="3028950"/>
            <a:ext cx="155448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localhost:8000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444925" y="2540050"/>
            <a:ext cx="2254151" cy="984200"/>
          </a:xfrm>
          <a:prstGeom prst="roundRect">
            <a:avLst>
              <a:gd name="adj" fmla="val 10323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794760" y="2778175"/>
            <a:ext cx="155448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API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794760" y="3028950"/>
            <a:ext cx="155448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localhost:8001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952976" y="2540050"/>
            <a:ext cx="2254151" cy="984200"/>
          </a:xfrm>
          <a:prstGeom prst="roundRect">
            <a:avLst>
              <a:gd name="adj" fmla="val 10323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302812" y="2778175"/>
            <a:ext cx="155448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302812" y="3028950"/>
            <a:ext cx="155448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localhost:3000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507001" y="3905250"/>
            <a:ext cx="412999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0"/>
              </a:spcBef>
              <a:spcAft>
                <a:spcPts val="1300"/>
              </a:spcAft>
              <a:buNone/>
            </a:pPr>
            <a:r>
              <a:rPr lang="en-US" sz="1300" dirty="0">
                <a:solidFill>
                  <a:srgbClr val="484F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with FastMCP + Python + React | Hackathon 2026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0" y="5092750"/>
            <a:ext cx="9144000" cy="50750"/>
          </a:xfrm>
          <a:prstGeom prst="rect">
            <a:avLst/>
          </a:prstGeom>
          <a:solidFill>
            <a:srgbClr val="5EA8A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MCP Assistant - Personal Productivity Server</dc:title>
  <dc:subject>PptxGenJS Presentation</dc:subject>
  <dc:creator>MCP Assistant Team</dc:creator>
  <cp:lastModifiedBy>MCP Assistant Team</cp:lastModifiedBy>
  <cp:revision>1</cp:revision>
  <dcterms:created xsi:type="dcterms:W3CDTF">2026-03-31T09:15:45Z</dcterms:created>
  <dcterms:modified xsi:type="dcterms:W3CDTF">2026-03-31T09:15:45Z</dcterms:modified>
</cp:coreProperties>
</file>